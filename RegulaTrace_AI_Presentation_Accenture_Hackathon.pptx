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hyperlink" Target="https://ais-pre-ga7wh4mhrajtep5sf5fveu-122077726286.asia-southeast1.run.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is-pre-ga7wh4mhrajtep5sf5fveu-122077726286.asia-southeast1.run.app" TargetMode="External"/><Relationship Id="rId2" Type="http://schemas.openxmlformats.org/officeDocument/2006/relationships/hyperlink" Target="https://ais-pre-ga7wh4mhrajtep5sf5fveu-122077726286.asia-southeast1.run.app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Obligation-to-Control Traceability Matrix &amp; Compliance Workbench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Agentic AI Compliance Platform that ingests complex banking regulations, automates control mapping with multi-factor confidence scoring, enforces human-in-the-loop governance, and provides cryptographic audit traceability.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3474720"/>
            <a:ext cx="4389120" cy="109728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36118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Nagarajan 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3931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Full-Stack Architect &amp; Systems Engineer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Systems Architecture &amp; Integration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3474720"/>
            <a:ext cx="4389120" cy="109728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36118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Nifasath Farhana 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3931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AI Engineer &amp; Agentic Systems Architect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1.5 Ingestion &amp; Deterministic Match Engine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71600" y="4846320"/>
            <a:ext cx="9418320" cy="82296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93776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PUBLIC AI STUDIO LIVE URL:</a:t>
            </a:r>
            <a:endParaRPr lang="en-US" sz="11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554480" y="52120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https://ais-pre-ga7wh4mhrajtep5sf5fveu-122077726286.asia-southeast1.run.app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Nagarajan R &amp; Nifasath Farhana K  |  Track: Agentic AI in Enterprise &amp; Banking  |  29/29 Tests Passed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PROBLEM STATEMENT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Banking Compliance Crisis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Tier-1 financial institutions spend billions annually manually reconciling thousands of complex regulatory obligations across DORA, OCC 2011-12, Basel III, and MAS.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Fragmented &amp; Manual Spreadsheets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teams spend 65%+ of their hours manually cross-referencing multi-hundred-page policy PDFs against disconnected Excel spreadsheets.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Slow, error-prone manual Excel reviews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Severe analyst fatigue and high turnover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Weeks of lag for every new circular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Black-Box AI Hallucination Risk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LLMs hallucinate control adequacy, skip vital sub-clauses, and lack deterministic explainability required by regulatory bank examiners.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384048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Unsubstantiated control approvals risk fines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grounded paragraph citations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Regulators reject black-box 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Deficient Audit Trails &amp; Governance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246888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 from FED, ECB, PRA, or RBI demand tamper-evident proof of who approved, modified, or identified gaps for every mandatory obligation.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3840480"/>
            <a:ext cx="3017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Informal or missing analyst rationales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Untracked remediation plans for partial gaps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cryptographic audit immutability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PROPOSED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AI: Autonomous Compliance Workbench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Agentic Compliance Platform engineered for banking, combining automated AI intelligence with strict human-in-the-loop governance.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Three-Pillar Agentic Workflow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1: Zero-Shot Clause Ingestion Engine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Ingests complex circulars (DORA ICT, OCC 2011-12, Basel III) and generates atomic obligations with exact section citations.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2: Multi-Factor Semantic Matching Engine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internal bank controls against extracted obligations using a 4-dimensional mathematical scoring formula.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3: Remediation &amp; Gap Advisor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unaddressed sub-requirements and generates actionable remediation guidance for compliance officers.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Strict Human-In-The-Loop Governance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proposes; human compliance officers adjudicate.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Mandatory Rationale Validation: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minimum 10-character substantive justification for every approval.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Enforced Gap Acknowledgment: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Partial/gap matches require explicit sign-off on remediation plans before finalizing.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Tamper-Evident Audit Ledger: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decision, RFI, and role change is permanently recorded with timestamps and user identities.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Enterprise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modular 4-tier pipeline linking regulatory inputs, generative AI inference, deterministic scoring, and audit immutability.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Parser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Ingests raw PDFs &amp; circulars across EU, US, UK, MAS.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paragraphs &amp; metadata.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82880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240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Agent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1880" y="27432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1.5 Flash extracts atomic obligations and outputs structured JSON.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4-Factor Match Engine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7432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mathematical scoring: Semantic + Lexical + Domain + Robustness.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182880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9828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098280" y="22402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&amp; 3LoD Workbench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98280" y="274320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 workbench with 3LoD role switching, RFI workflows, and audit export.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172554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16636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Closed-Loop Traceability Pipeline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Circular Text  ➔  Clause Tokenization  ➔  Structured Obligation  ➔  Candidate Control Scoring  ➔  Analyst Adjudication  ➔  Immutable Audit Ledger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AI MODELS &amp; TECHNOLOGIES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&amp; Technology Stack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with cloud-native generative AI models, deterministic mathematical scoring, and modern web primitives.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AI Models &amp; Cognitive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Gemini 1.5 Flash (@google/genai)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Ultra-fast structured clause parsing, sub-component breakdown, and professional rationale generation.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Rigid JSON Schema Output Validation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Guarantees outputs strictly conform to TypeScript interfaces (RegulatoryObligation and RequirementComponent).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Autonomous Mock Fallback Engine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failover to local domain-specific parsing for air-gapped demos or offline banking environments.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Constrained Financial Prompts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Eliminates hallucination by bounding responses to provided banking circular excerpts.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Technology Stack &amp; Infrastructure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 Framework: React 19 + TypeScript + Vite 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component architecture with sub-millisecond reactive UI state updates.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Enterprise UI: Tailwind CSS + Radix UI Primitives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(WCAG AA), high-density financial data presentation layout.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Integrity: Zod Schemas + Immutable Audit Store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LocalStorage engine with simulated network latencies and optimistic updates.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 Automation: Vitest + React Testing Library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29/29 rigorous domain logic and end-to-end acceptance tests passed.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13" name="Text 11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PRODUCT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Product Demo &amp; Live Deployment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fully working, live-deployed regulatory compliance workbench ready for immediate hands-on testing.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383280" cy="237744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Obligation Explorer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list view with instant filtering across EU DORA, US OCC, Basel III, and Singapore MAS.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383280" cy="237744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3-Column Workbench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237744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display of Obligation Details, Candidate Controls (with scores), and Active Traceability Chain.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383280" cy="237744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Review &amp; Adjudication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237744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justification barrier, gap acknowledgment, and role selection with live audit logging.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389120"/>
            <a:ext cx="10698480" cy="1645920"/>
          </a:xfrm>
          <a:prstGeom prst="roundRect">
            <a:avLst/>
          </a:prstGeom>
          <a:solidFill>
            <a:srgbClr val="064E3B"/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57200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PUBLIC AI STUDIO LIVE DEPLOYMENT URL — CLICK TO TEST LIVE:</a:t>
            </a:r>
            <a:endParaRPr lang="en-US" sz="130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1005840" y="493776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https://ais-pre-ga7wh4mhrajtep5sf5fveu-122077726286.asia-southeast1.run.app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5486400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● Production Live  |  No Installation Required  |  Immediate Browser Access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MATHEMATICAL RIGOR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4-Factor AI Confidence Scoring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scoring mathematics that bankers and regulatory examiners can inspect, calibrate, and verify.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WEIGHT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Cosine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 between requirement embeddings and control statements.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73736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1920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WEIGHT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 Overlap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1880" y="2697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Token-level Jaccard index for exact regulatory keywords (e.g. 'failover', 'RTO').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920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WEIGHT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Alignment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697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Taxonomy match across functions (IT, Treasury, Financial Crime, Model Risk).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1737360"/>
            <a:ext cx="2468880" cy="292608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98280" y="19202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WEIGHT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0982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Robustness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98280" y="2697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control automation level, frequency, and historical test success.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937760"/>
            <a:ext cx="10698480" cy="1188720"/>
          </a:xfrm>
          <a:prstGeom prst="roundRect">
            <a:avLst/>
          </a:prstGeom>
          <a:solidFill>
            <a:srgbClr val="172554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07492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📐 Composite Confidence Score Formula &amp; Decision Boundaries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544068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(0.35 × Sim_Semantic) + (0.25 × Sim_Lexical) + (0.20 × Score_Domain) + (0.20 × Score_Robustness)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(≥ 80%): Recommended for Mapping  |  • Medium (60–79%): Mandatory Review  |  • Low (&lt; 60%): Deficient Control Gap Flagged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BUSINESS IMPACT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 Enterprise Return on Investment (ROI)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bank regulatory compliance from an expensive cost center into an agile operational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2468880" cy="402336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94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Review Cycles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Accelerates obligation mapping from 6 weeks down to 3 days per new circular.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920240"/>
            <a:ext cx="2468880" cy="402336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2194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$4.2M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5661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Operational Savings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3840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per Tier-1 bank in consultant and auditor reconciliation fees.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2468880" cy="402336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194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Audit-Ready Traceability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3840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Pre-compiled evidence packages ready for immediate examiner scrutiny.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1920240"/>
            <a:ext cx="2468880" cy="4023360"/>
          </a:xfrm>
          <a:prstGeom prst="roundRect">
            <a:avLst/>
          </a:prstGeom>
          <a:solidFill>
            <a:srgbClr val="122238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0525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Unexplained Gaps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98280" y="384048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remediation workflows eliminate regulatory blind spots.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SCALABILITY &amp; SECURITY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Scalability &amp; Zero-Leakage Security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Architected to handle tens of thousands of controls across multi-jurisdiction banking entities with zero data leakage.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Multi-Jurisdiction Engine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matrix covering European DORA &amp; 6AMLD, US OCC/Fed guidelines, UK PRA/FCA, and Singapore MAS.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Cross-border obligation mapping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banking entity segregation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regulatory reporting taxonomy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Banking Data Protection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246888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enterprise security model preventing data contamination or external leakage.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374904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model training on customer data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Stateless API calls with encryption in transit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Private VPC / air-gapped on-premise ready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383280" cy="438912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920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High-Volume Scalability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246888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Cloud-native microservices architecture built for high concurrency and large data volumes.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374904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Indexes 50,000+ controls efficiently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Sub-second client-side filtering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Scales elastically on Cloud Run &amp; K8s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REGULATRACE AI  |  FUTURE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515600" y="365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Strategic Roadmap &amp; Next Steps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commercialization pathway from hackathon prototype to enterprise GRC production deployment.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2468880" cy="265176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Circular Feeds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6060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RSS and API ingestors monitoring Fed, ECB, and MAS for real-time circular updates.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737360"/>
            <a:ext cx="2468880" cy="265176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1874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148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GRC Ecosystem Sync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26060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Bi-directional connectors for ServiceNow GRC, MetricStream, Archer, and Jira Enterprise.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737360"/>
            <a:ext cx="2468880" cy="265176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874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2148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Debate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26060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LLM agents role-playing as Bank Examiner vs Internal Control Officer to stress-test mappings.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1737360"/>
            <a:ext cx="2468880" cy="2651760"/>
          </a:xfrm>
          <a:prstGeom prst="roundRect">
            <a:avLst/>
          </a:prstGeom>
          <a:solidFill>
            <a:srgbClr val="12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98280" y="18745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Policy 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98280" y="26060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drafted internal control wording to proactively fill anticipated regulatory gaps.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00600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ACCESS THE PRODUCTION LIVE APPLICATION:</a:t>
            </a:r>
            <a:endParaRPr lang="en-US" sz="1200" dirty="0"/>
          </a:p>
        </p:txBody>
      </p:sp>
      <p:sp>
        <p:nvSpPr>
          <p:cNvPr id="24" name="Text 22">
            <a:hlinkClick r:id="rId1" tooltip=""/>
          </p:cNvPr>
          <p:cNvSpPr/>
          <p:nvPr/>
        </p:nvSpPr>
        <p:spPr>
          <a:xfrm>
            <a:off x="1005840" y="5074920"/>
            <a:ext cx="10149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https://ais-pre-ga7wh4mhrajtep5sf5fveu-122077726286.asia-southeast1.run.app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" y="553212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Nagarajan R &amp; Nifasath Farhana K  |  GitHub: https://github.com/nifasathfarhanak/accenture_hackathon  |  Thank You!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6400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Economic Times × Accenture • ET AI Hackathon: Agentic Edition</a:t>
            </a:r>
            <a:endParaRPr lang="en-US" sz="900" dirty="0"/>
          </a:p>
        </p:txBody>
      </p:sp>
      <p:sp>
        <p:nvSpPr>
          <p:cNvPr id="27" name="Text 25">
            <a:hlinkClick r:id="rId2" tooltip=""/>
          </p:cNvPr>
          <p:cNvSpPr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App: https://ais-pre-ga7wh4mhrajtep5sf5fveu-122077726286.asia-southeast1.run.app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The Economic Times × Accenture ET AI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RegulaTrace AI — Pitch Presentation</dc:title>
  <dc:subject>PptxGenJS Presentation</dc:subject>
  <dc:creator>Nagarajan R &amp; Nifasath Farhana K</dc:creator>
  <cp:lastModifiedBy>Nagarajan R &amp; Nifasath Farhana K</cp:lastModifiedBy>
  <cp:revision>1</cp:revision>
  <dcterms:created xsi:type="dcterms:W3CDTF">2026-10-11T09:00:35Z</dcterms:created>
  <dcterms:modified xsi:type="dcterms:W3CDTF">2026-10-11T09:00:35Z</dcterms:modified>
</cp:coreProperties>
</file>